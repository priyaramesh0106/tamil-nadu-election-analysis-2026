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Crimson Pro SemiBold" panose="020B0604020202020204" charset="0"/>
      <p:regular r:id="rId11"/>
    </p:embeddedFont>
    <p:embeddedFont>
      <p:font typeface="Heebo" pitchFamily="2" charset="-79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77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349" y="437034"/>
            <a:ext cx="15251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349" y="685056"/>
            <a:ext cx="4800302" cy="2254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TVK's Emergence and Tamil Nadu's Changing Political Landscape by 2026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457349" y="3119884"/>
            <a:ext cx="480030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Regional electoral shifts, vote share changes, and turnout growth across Tamil Nadu.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349" y="3657079"/>
            <a:ext cx="4800302" cy="10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TVK emerged as a major competitive force, disrupting DMK's regional dominance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Urban constituencies — especially Chennai Metro — drove the strongest electoral realignment</a:t>
            </a:r>
            <a:endParaRPr lang="en-US" sz="10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Higher voter turnout correlated with stronger TVK growth across regions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5150"/>
            <a:ext cx="42087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 &amp; Methodology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85628"/>
            <a:ext cx="245834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249108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Regional Seat Shifts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854300"/>
            <a:ext cx="24583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Seat allocation changes across regions.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506353"/>
            <a:ext cx="245834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305101" y="2285628"/>
            <a:ext cx="2543249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305101" y="249108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Vote Share Realignment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05101" y="2854299"/>
            <a:ext cx="2378247" cy="416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Vote share shift across parties and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Regions.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8875" y="3506120"/>
            <a:ext cx="2549476" cy="10800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198989" y="2285628"/>
            <a:ext cx="245834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198989" y="249108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Turnout Dynamics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98989" y="2854300"/>
            <a:ext cx="24583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Turnout Growth patterns across constituencies.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8989" y="3506353"/>
            <a:ext cx="2458343" cy="1056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71847"/>
            <a:ext cx="607553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2A4A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Seat Distribution Shift Across Tamil Nadu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21184"/>
            <a:ext cx="86865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C833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Chennai Metro saw the sharpest shift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357536"/>
            <a:ext cx="8229302" cy="30776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349" y="4570735"/>
            <a:ext cx="86865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insight:</a:t>
            </a: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TVK’s growth in Chennai Metro weakened DMK’s regional lead by 2026.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39626"/>
            <a:ext cx="7854628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B1F3A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TVK Gained Vote Share Across All Regions, Led by Chennai Metro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50912" y="901973"/>
            <a:ext cx="18415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50912" y="1161455"/>
            <a:ext cx="1470496" cy="1006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TVK gained vote share in every region.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Chennai Metro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drove the sharpest shift.</a:t>
            </a:r>
            <a:endParaRPr lang="en-US" sz="8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Urban voters shifted most toward TVK.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294" y="912837"/>
            <a:ext cx="5901407" cy="3793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88231"/>
            <a:ext cx="8198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Executive takeaway: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Chennai Metro led turnout growth, with urban constituencies showing the clearest surge and reinforcing TVK’s strongest momentum in the region.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72901" y="1039192"/>
            <a:ext cx="8198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B1F3A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Turnout Growth Was Strongest in Chennai Metro Constituencies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2076971"/>
            <a:ext cx="8198197" cy="2694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71364"/>
            <a:ext cx="62626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 Signals That Defined the Election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9786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regional shifts across Tamil Nadu.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596753"/>
            <a:ext cx="2622724" cy="1275308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577703"/>
            <a:ext cx="2622724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6" name="Shape 4"/>
          <p:cNvSpPr/>
          <p:nvPr/>
        </p:nvSpPr>
        <p:spPr>
          <a:xfrm>
            <a:off x="1594805" y="238415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1722351" y="249049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6927" y="29511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Urban Strength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927" y="325762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TVK was strongest in urban areas, led by Chennai Metro.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0601" y="2596753"/>
            <a:ext cx="2622724" cy="1275308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0601" y="2577703"/>
            <a:ext cx="2622724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9287" y="238415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486833" y="249049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1410" y="29511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DMK Decline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21410" y="325762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DMK lost ground across several regions as TVK advanced.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083" y="2596753"/>
            <a:ext cx="2622724" cy="1275308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25083" y="2577703"/>
            <a:ext cx="2622724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123770" y="2384152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7251316" y="2490490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5892" y="29511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Turnout Impact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85892" y="325762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Higher turnout aligned closely with the shift toward TVK.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7001"/>
            <a:ext cx="796453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Implications for Urban Voter Engagement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66106"/>
            <a:ext cx="1931566" cy="1950393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047056"/>
            <a:ext cx="1931566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5" name="Shape 3"/>
          <p:cNvSpPr/>
          <p:nvPr/>
        </p:nvSpPr>
        <p:spPr>
          <a:xfrm>
            <a:off x="1249226" y="1853505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376772" y="195984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6927" y="2420466"/>
            <a:ext cx="16099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Prioritize Urban Clusters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948434"/>
            <a:ext cx="16099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Concentrate resources on Chennai Metro and other dense constituencies.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9443" y="2066106"/>
            <a:ext cx="1931640" cy="1950393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9443" y="2047056"/>
            <a:ext cx="1931640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1" name="Shape 9"/>
          <p:cNvSpPr/>
          <p:nvPr/>
        </p:nvSpPr>
        <p:spPr>
          <a:xfrm>
            <a:off x="3322625" y="1853505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12" name="Text 10"/>
          <p:cNvSpPr/>
          <p:nvPr/>
        </p:nvSpPr>
        <p:spPr>
          <a:xfrm>
            <a:off x="3450171" y="195984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30252" y="2420466"/>
            <a:ext cx="16100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Track Turnout Shifts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730252" y="2726978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turnout patterns as an early indicator of momentum.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066106"/>
            <a:ext cx="1931640" cy="1950393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2842" y="2047056"/>
            <a:ext cx="1931640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Shape 15"/>
          <p:cNvSpPr/>
          <p:nvPr/>
        </p:nvSpPr>
        <p:spPr>
          <a:xfrm>
            <a:off x="5396024" y="1853505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5523570" y="195984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3651" y="2420466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Reach Emerging Blocs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3651" y="2948434"/>
            <a:ext cx="16100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 first-time voters and newly mobilized urban groups.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6241" y="2066106"/>
            <a:ext cx="1931640" cy="1950393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16241" y="2047056"/>
            <a:ext cx="1931640" cy="76200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469423" y="1853505"/>
            <a:ext cx="425276" cy="425276"/>
          </a:xfrm>
          <a:prstGeom prst="roundRect">
            <a:avLst>
              <a:gd name="adj" fmla="val 134383"/>
            </a:avLst>
          </a:prstGeom>
          <a:solidFill>
            <a:srgbClr val="2150FE"/>
          </a:solidFill>
          <a:ln/>
        </p:spPr>
      </p:sp>
      <p:sp>
        <p:nvSpPr>
          <p:cNvPr id="24" name="Text 22"/>
          <p:cNvSpPr/>
          <p:nvPr/>
        </p:nvSpPr>
        <p:spPr>
          <a:xfrm>
            <a:off x="7596969" y="1959843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77050" y="2420466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Monitor Regional Fragmentation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77050" y="2948434"/>
            <a:ext cx="16100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Watch how traditional party dominance continues to split across regions.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509067"/>
            <a:ext cx="388225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Limitations &amp; Closing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1151409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Important Caveats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2105" y="1445196"/>
            <a:ext cx="28575" cy="1229544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576783" y="145948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Regional Aggregation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76783" y="1754460"/>
            <a:ext cx="1782663" cy="905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analysis is synthesized at the regional level, so constituency-level dynamics may vary meaningfully within each cluster.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75979" y="1445196"/>
            <a:ext cx="28575" cy="1229544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8" name="Text 6"/>
          <p:cNvSpPr/>
          <p:nvPr/>
        </p:nvSpPr>
        <p:spPr>
          <a:xfrm>
            <a:off x="2640657" y="1459483"/>
            <a:ext cx="16446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Directional Interpretation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40657" y="1754460"/>
            <a:ext cx="178273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patterns identified are directional and comparative, highlighting relative shifts rather than point forecasts.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2105" y="2855491"/>
            <a:ext cx="28575" cy="867147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1" name="Text 9"/>
          <p:cNvSpPr/>
          <p:nvPr/>
        </p:nvSpPr>
        <p:spPr>
          <a:xfrm>
            <a:off x="576783" y="2869778"/>
            <a:ext cx="156730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Scope &amp; Timeframe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783" y="3164756"/>
            <a:ext cx="3846612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findings reflect the elections and time periods included in the dataset; later developments and local events are outside the scope of this review.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6393" y="3826073"/>
            <a:ext cx="445420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9079" y="4124995"/>
            <a:ext cx="38143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</a:t>
            </a: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: Election Commission of India (ECI) publicly available constituency-level data.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6393" y="4124995"/>
            <a:ext cx="14288" cy="362396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6" name="Shape 14"/>
          <p:cNvSpPr/>
          <p:nvPr/>
        </p:nvSpPr>
        <p:spPr>
          <a:xfrm>
            <a:off x="4637633" y="1046783"/>
            <a:ext cx="4172471" cy="3587651"/>
          </a:xfrm>
          <a:prstGeom prst="roundRect">
            <a:avLst>
              <a:gd name="adj" fmla="val 509"/>
            </a:avLst>
          </a:prstGeom>
          <a:solidFill>
            <a:srgbClr val="F7F4EF"/>
          </a:solidFill>
          <a:ln/>
        </p:spPr>
      </p:sp>
      <p:sp>
        <p:nvSpPr>
          <p:cNvPr id="17" name="Text 15"/>
          <p:cNvSpPr/>
          <p:nvPr/>
        </p:nvSpPr>
        <p:spPr>
          <a:xfrm>
            <a:off x="4759449" y="1151409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9449" y="1446386"/>
            <a:ext cx="3928839" cy="262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Tamil Nadu's Political landscape is becoming increasingly competitive across regions.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4759449" y="4177829"/>
            <a:ext cx="392883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Urban voter engagement is emerging as the decisive force shaping this transition.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427</Words>
  <Application>Microsoft Office PowerPoint</Application>
  <PresentationFormat>On-screen Show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Crimson Pro SemiBold</vt:lpstr>
      <vt:lpstr>Arial</vt:lpstr>
      <vt:lpstr>Heebo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Priya Ramesh</dc:creator>
  <cp:lastModifiedBy>Priya Ramesh</cp:lastModifiedBy>
  <cp:revision>2</cp:revision>
  <dcterms:created xsi:type="dcterms:W3CDTF">2026-05-26T18:05:06Z</dcterms:created>
  <dcterms:modified xsi:type="dcterms:W3CDTF">2026-05-26T18:34:27Z</dcterms:modified>
</cp:coreProperties>
</file>